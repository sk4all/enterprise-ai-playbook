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9617/000001961723000388/investordaypresentation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newsroom.bankofamerica.com/content/newsroom/press-releases/2026/05/bank-of-america-convenes-global-leaders-in-asia-pacific-for-its-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loomberg.com/news/articles/2025-10-07/jpmorgan-s-dimon-says-ai-cost-savings-now-matching-money-sp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healthcarefinancenews.com/news/unitedhealth-group-track-invest-15-billion-a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927628/000092762826000024/cof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315189/000110465925122321/de-20251102x10k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373715/000137371525000010/now-2024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9920/000163992024000004/ck0001639920-2023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04169/000010416925000021/wmt-202501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6035040" cy="411480"/>
          </a:xfrm>
          <a:prstGeom prst="roundRect">
            <a:avLst>
              <a:gd name="adj" fmla="val 48889"/>
            </a:avLst>
          </a:prstGeom>
          <a:solidFill>
            <a:srgbClr val="1622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6E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CAPITAL ALLOCATION SERIES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Enterprise are you?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enterprise profiles in AI spending, ROI, and governance — with the data, the gap, and the first move for each.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of 14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4C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go beyond pilots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chatbots to AI-native operations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don't scale to continuous agents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 token growth projected, 2026–2030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 boundaries before scaling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governance with the first live agent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JPMorgan: tech budget $15.3B → $19.8B, 2023–2026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JPMorgan 2023 Investor Day (SEC 8-K)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skeptical, and rightly so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the real case before committing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“agentic” claims are press framing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~half of enterprises confirm it themselves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the source behind any ROI claim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narrow, measurable pilot first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America: $13.5B total tech, cautious pace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Bank of America Newsroom, May 2026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matched numbers, not slogans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benefit, both quantified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enterprises publish matched ROI numbers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JPMorgan: “$2B expense, $2B benefit” — Dimon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cost and benefit separately, now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your target matched number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JPMorgan: ~$2B/year specifically tagged AI spend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Bloomberg TV, Jamie Dimon interview, Oct 7 2025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 where to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options, no clear sequencing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options, no clear sequence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15 firms don't track AI spend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before you deploy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5-point self-diagnostic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UnitedHealth: undisclosed until $1.5B guided for 2026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UnitedHealth Q1 2026 earnings call coverage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visibility isn't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is outrunning the dashboard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spend compounds fast, invisibly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firm burned a year's budget in 4 months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caps beat monthly dashboards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token-velocity circuit breaker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One: tech-adjacent expense $1.38B → $1.77B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Capital One FY2025 10-K (SEC)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sitting idle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is there; utilization isn't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capacity isn't used capacity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covered by our current research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this as its own FinOps audit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utilization before adding agents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CapEx/OpEx disclosure covers idle compute directly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Not applicable — no company discloses this metric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 ERP, now layering in AI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the real work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not the model, is the bottleneck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covered by our current research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agents to existing data contracts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one ERP module first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Deere: R&amp;D $2.18B → $2.31B, FY23–FY25, steady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Deere &amp; Co. FY2025 10-K (SEC)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competitors move faster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the edge, not just the narrative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“AI edge” often outruns fact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Agentforce ARR ~$1.4B — revenue, not proof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vendor hype from real operations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confirmed cases, not ARR headlines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ServiceNow: $2.5B R&amp;D (2024), no AI breakout given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ServiceNow FY2024 10-K (SEC)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team, tight budget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leverage per dollar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 are the priciest default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~6x cost gap, disciplined vs. frontier-heavy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capable model first, always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when a model demonstrably fails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Spotify: capex ~€6M (~$6.6M) — smallest footprint on the list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Spotify FY2023 Form 20-F (SEC)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Budget's ahead of governance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highest-risk profile in this set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without brakes is the top risk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case: ~$500M in a month, no caps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circuit breakers, not reports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per-agent daily cap, this week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Walmart: $23.8B capex (FY2025), no AI breakout at all</a:t>
            </a:r>
            <a:endParaRPr lang="en-US" sz="2600" dirty="0"/>
          </a:p>
        </p:txBody>
      </p:sp>
      <p:sp>
        <p:nvSpPr>
          <p:cNvPr id="21" name="Text 19">
            <a:hlinkClick r:id="rId1" tooltip=""/>
          </p:cNvPr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u="sng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Source: Walmart FY2025 10-K (SEC)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11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1B4FE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closed, open-source &amp; global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and control differ across all three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813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88920" y="1481328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Closed, open, and global models price differently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4086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340864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340864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covered by our current research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0040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88920" y="3200400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governance layer across all models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59936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059936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workloads by model family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48640" y="4919472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8F9FB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9194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88920" y="4919472"/>
            <a:ext cx="8641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15 companies disclose model-mix spend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48640" y="588873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Not applicable — no company discloses this metric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12 of 14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4937760" cy="384048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eleven profiles, one page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companies are three of these at once — use this as a working reference, not a single label.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9280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4206240"/>
              </a:tblGrid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Need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Move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pilots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Continuous-agent architecture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with first live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skeptical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confirmed, not press, case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narrow pilot, clear 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Wants matched numbers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Cost-and-benefit tracking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your target number down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sure where to start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5-point self-diagnostic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 up, visibility isn't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cost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Token-velocity circuit breaker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sitting idle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Utilization audit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before new workloads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in ERP, adding 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mapping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scoped ERP-module pilot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Competitors moving faster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 vs. narrative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confirmed cases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team, tight 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leverage per dollar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Cheapest capable model first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ahead of governance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Guardrails, now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daily cap this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4FE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2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model estate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governance 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by model 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4F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 of 14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7B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companies are </a:t>
            </a:r>
            <a:pPr indent="0" marL="0">
              <a:buNone/>
            </a:pPr>
            <a:r>
              <a:rPr lang="en-US" sz="4000" b="1" dirty="0">
                <a:solidFill>
                  <a:srgbClr val="6E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these at once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normal — the goal isn't to fit one box. Full playbook with deployment strategies for each profile, coming this week.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9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AI ENTERPRISE ARE YOU?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Srikanth K. — Enterprise AI OS Architect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0" y="6355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14 of 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 rot="16200000">
            <a:off x="9162288" y="30998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4C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OS ARCHITECT  •  SRIKANTH K.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Kind of AI Enterprise Are You?</dc:title>
  <dc:subject>PptxGenJS Presentation</dc:subject>
  <dc:creator>Srikanth K.</dc:creator>
  <cp:lastModifiedBy>Srikanth K.</cp:lastModifiedBy>
  <cp:revision>1</cp:revision>
  <dcterms:created xsi:type="dcterms:W3CDTF">2026-07-07T23:13:45Z</dcterms:created>
  <dcterms:modified xsi:type="dcterms:W3CDTF">2026-07-07T23:13:45Z</dcterms:modified>
</cp:coreProperties>
</file>